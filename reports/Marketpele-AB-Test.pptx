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86b7a09174240" /><Relationship Type="http://schemas.openxmlformats.org/officeDocument/2006/relationships/extended-properties" Target="/docProps/app.xml" Id="R6e527eaa74fd4fb4" /><Relationship Type="http://schemas.openxmlformats.org/officeDocument/2006/relationships/officeDocument" Target="/ppt/presentation.xml" Id="R0a6cdd0c7b6e43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8725f5ac4f4999"/>
  </p:sldMasterIdLst>
  <p:notesMasterIdLst>
    <p:notesMasterId xmlns:r="http://schemas.openxmlformats.org/officeDocument/2006/relationships" r:id="Rccce6f6c00144488"/>
  </p:notesMasterIdLst>
  <p:sldIdLst>
    <p:sldId xmlns:r="http://schemas.openxmlformats.org/officeDocument/2006/relationships" id="256" r:id="Ra9a12ab01bc54065"/>
    <p:sldId xmlns:r="http://schemas.openxmlformats.org/officeDocument/2006/relationships" id="257" r:id="R5f9512cf539b4927"/>
    <p:sldId xmlns:r="http://schemas.openxmlformats.org/officeDocument/2006/relationships" id="258" r:id="R8f8308b836f34849"/>
    <p:sldId xmlns:r="http://schemas.openxmlformats.org/officeDocument/2006/relationships" id="259" r:id="R63d1a1cd47fe4327"/>
    <p:sldId xmlns:r="http://schemas.openxmlformats.org/officeDocument/2006/relationships" id="260" r:id="R288441a5c6184c7f"/>
    <p:sldId xmlns:r="http://schemas.openxmlformats.org/officeDocument/2006/relationships" id="261" r:id="R680a194373104007"/>
    <p:sldId xmlns:r="http://schemas.openxmlformats.org/officeDocument/2006/relationships" id="262" r:id="R0eb0d55b3ea84c9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3e0fc2b85749dc" /><Relationship Type="http://schemas.openxmlformats.org/officeDocument/2006/relationships/slideMaster" Target="/ppt/slideMasters/slideMaster1.xml" Id="R318725f5ac4f4999" /><Relationship Type="http://schemas.openxmlformats.org/officeDocument/2006/relationships/notesMaster" Target="/ppt/notesMasters/notesMaster1.xml" Id="Rccce6f6c00144488" /><Relationship Type="http://schemas.openxmlformats.org/officeDocument/2006/relationships/presProps" Target="/ppt/presProps.xml" Id="R5b6227e3b3b1491b" /><Relationship Type="http://schemas.openxmlformats.org/officeDocument/2006/relationships/tableStyles" Target="/ppt/tableStyles.xml" Id="R4932983d756640df" /><Relationship Type="http://schemas.openxmlformats.org/officeDocument/2006/relationships/slide" Target="/ppt/slides/slide1.xml" Id="Ra9a12ab01bc54065" /><Relationship Type="http://schemas.openxmlformats.org/officeDocument/2006/relationships/slide" Target="/ppt/slides/slide2.xml" Id="R5f9512cf539b4927" /><Relationship Type="http://schemas.openxmlformats.org/officeDocument/2006/relationships/slide" Target="/ppt/slides/slide3.xml" Id="R8f8308b836f34849" /><Relationship Type="http://schemas.openxmlformats.org/officeDocument/2006/relationships/slide" Target="/ppt/slides/slide4.xml" Id="R63d1a1cd47fe4327" /><Relationship Type="http://schemas.openxmlformats.org/officeDocument/2006/relationships/slide" Target="/ppt/slides/slide5.xml" Id="R288441a5c6184c7f" /><Relationship Type="http://schemas.openxmlformats.org/officeDocument/2006/relationships/slide" Target="/ppt/slides/slide6.xml" Id="R680a194373104007" /><Relationship Type="http://schemas.openxmlformats.org/officeDocument/2006/relationships/slide" Target="/ppt/slides/slide7.xml" Id="R0eb0d55b3ea84c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1a728a5eb8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eac9960b12410f" /><Relationship Type="http://schemas.openxmlformats.org/officeDocument/2006/relationships/notesMaster" Target="/ppt/notesMasters/notesMaster1.xml" Id="R531f107d499f46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6e427c7a7c43e6" /><Relationship Type="http://schemas.openxmlformats.org/officeDocument/2006/relationships/notesMaster" Target="/ppt/notesMasters/notesMaster1.xml" Id="Rd330fbcc229f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65a8b65baa404e" /><Relationship Type="http://schemas.openxmlformats.org/officeDocument/2006/relationships/notesMaster" Target="/ppt/notesMasters/notesMaster1.xml" Id="R27a805de84114b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46de5c15141e3" /><Relationship Type="http://schemas.openxmlformats.org/officeDocument/2006/relationships/notesMaster" Target="/ppt/notesMasters/notesMaster1.xml" Id="R86414133586c44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47ade2d5f048c3" /><Relationship Type="http://schemas.openxmlformats.org/officeDocument/2006/relationships/notesMaster" Target="/ppt/notesMasters/notesMaster1.xml" Id="R28517ab41553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049ca374d149f1" /><Relationship Type="http://schemas.openxmlformats.org/officeDocument/2006/relationships/notesMaster" Target="/ppt/notesMasters/notesMaster1.xml" Id="R771313272f7247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dec4301fc84ed9" /><Relationship Type="http://schemas.openxmlformats.org/officeDocument/2006/relationships/notesMaster" Target="/ppt/notesMasters/notesMaster1.xml" Id="Rb1b8a7804c7b41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аналитический проект. Основной вывод: статистически значимого роста выручки не обнаружено, при этом снизилась метрика взаимодействия с органическим контентом. Это не доказывает отсутствие любого эффекта на выручку.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разделы «Бизнес-контекст», «Гипотеза эксперимента», «Итоговый дизайн». Связь между ростом paid clicks и выручкой — проверяемая гипотеза, а не установленный факт.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calculate_mde, design_table, fpr, power_simulated, mde_cuped_relative. Для 14 дней без CUPED n=2914, MDE=6.1768%; CUPED оценён на двух исторических окнах и объединении 2987 пользователей, MDE=3.0031%. Это оценки дизайна на разных сформированных выборках, не оценка фактического MDE итогового A/B. Исторические строки выше 97-го перцентиля revenue исключены. H0: μtest≤μcontrol, H1: μtest&gt;μcontrol. Корреляция пред- и последующего периода 0.883; SD 51.80→24.29.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«Метрики эксперимента» и «Конверсия просмотров в клики». Группы сравниваются по средним пользовательских метрик; CTR в ноутбуке определяется через pages_viewed, значения могут превышать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group_means, uplift, ttest_ind. Uplift рассчитан в ноутбуке по средним, предварительно округлённым до 3 знаков, поэтому проценты приблизительные. Revenue p=0.4599217105448494; CTR paid p=9.061292037650443e-7; CTR organic p=1.1400205275959941e-20. Для revenue и paid alternative=greater, для organic alternative=less. Использован t-тест с equal_var=True по умолчанию. Показаны сохранённые результаты без перерасчёта. Нулевую гипотезу по revenue не отвергаем; равенство групп не доказано.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сохранённый violinplot из ноутбука, код с data=experiment_data. График перенесён без восстановления или выдумывания исходных наблюдений. Вывод о перераспределении внимания — интерпретация совместной динамики метрик, а не прямое измерение внимания или доказательство механизма. Сходство распределений revenue визуально не доказывает равенство средних.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«Выводы и рекомендации для бизнеса». Последующие действия — рекомендации по результатам анализа, а не выполненные исследования. Снижение organic CTR требует оценки бизнес-последствий; долгосрочный эффект не измерялся. Для следующего теста следует заранее зафиксировать направления гипотез, обработку выбросов, guardrail-порог и применение CUPED, если доступна ковариата.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Пользовательский ноутбук ab-marketpele-markdown.ipynb (исходный ab-marketpele(1).ipynb), сохранённые код, таблицы и результаты. Новые расчёты на исходных CSV не выполнялись.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054d022fb4f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fc117c5064015" /><Relationship Type="http://schemas.openxmlformats.org/officeDocument/2006/relationships/slideLayout" Target="/ppt/slideLayouts/slideLayout1.xml" Id="R95d8e81108d640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8e81108d640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09d1a47414e90" /><Relationship Type="http://schemas.openxmlformats.org/officeDocument/2006/relationships/notesSlide" Target="/ppt/notesSlides/notesSlide1.xml" Id="R715a891d1d0c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9fb90f984dc5" /><Relationship Type="http://schemas.openxmlformats.org/officeDocument/2006/relationships/notesSlide" Target="/ppt/notesSlides/notesSlide2.xml" Id="R21c4a005e9dc4e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07c7f46c54380" /><Relationship Type="http://schemas.openxmlformats.org/officeDocument/2006/relationships/chart" Target="/ppt/slides/charts/chart1.xml" Id="R84f60fb6bc834054" /><Relationship Type="http://schemas.openxmlformats.org/officeDocument/2006/relationships/notesSlide" Target="/ppt/notesSlides/notesSlide3.xml" Id="Reb4ed127db9448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0b8d4fc9b41be" /><Relationship Type="http://schemas.openxmlformats.org/officeDocument/2006/relationships/notesSlide" Target="/ppt/notesSlides/notesSlide4.xml" Id="R3b812911beec4b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8667aa28e4def" /><Relationship Type="http://schemas.openxmlformats.org/officeDocument/2006/relationships/chart" Target="/ppt/slides/charts/chart2.xml" Id="R1f05277a51774894" /><Relationship Type="http://schemas.openxmlformats.org/officeDocument/2006/relationships/notesSlide" Target="/ppt/notesSlides/notesSlide5.xml" Id="Ra431ed3f3bc4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35876021d482c" /><Relationship Type="http://schemas.openxmlformats.org/officeDocument/2006/relationships/image" Target="/ppt/media/image.png" Id="Ra60d2b1623c847a5" /><Relationship Type="http://schemas.openxmlformats.org/officeDocument/2006/relationships/notesSlide" Target="/ppt/notesSlides/notesSlide6.xml" Id="R9e518a8a606d41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e7499386b40e5" /><Relationship Type="http://schemas.openxmlformats.org/officeDocument/2006/relationships/notesSlide" Target="/ppt/notesSlides/notesSlide7.xml" Id="Rc962df17a875432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varyColors val="0"/>
        <c:ser>
          <c:idx val="0"/>
          <c:order val="0"/>
          <c:tx>
            <c:v>MDE</c:v>
          </c:tx>
          <c:spPr>
            <a:solidFill xmlns:a="http://schemas.openxmlformats.org/drawingml/2006/main">
              <a:srgbClr val="235AD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EADC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5AD1"/>
              </a:solidFill>
            </c:spPr>
          </c:dPt>
          <c:cat>
            <c:strLit>
              <c:ptCount val="2"/>
              <c:pt idx="0">
                <c:v>Без CUPED</c:v>
              </c:pt>
              <c:pt idx="1">
                <c:v>С CUPED</c:v>
              </c:pt>
            </c:strLit>
          </c:cat>
          <c:val>
            <c:numLit>
              <c:formatCode>0.0%</c:formatCode>
              <c:ptCount val="2"/>
              <c:pt idx="0">
                <c:v>0.0618</c:v>
              </c:pt>
              <c:pt idx="1">
                <c:v>0.03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A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A43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Изменение</c:v>
          </c:tx>
          <c:spPr>
            <a:solidFill xmlns:a="http://schemas.openxmlformats.org/drawingml/2006/main">
              <a:srgbClr val="235AD1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797A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57D7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D454C"/>
              </a:solidFill>
            </c:spPr>
          </c:dPt>
          <c:cat>
            <c:strLit>
              <c:ptCount val="3"/>
              <c:pt idx="0">
                <c:v>Revenue</c:v>
              </c:pt>
              <c:pt idx="1">
                <c:v>CTR paid</c:v>
              </c:pt>
              <c:pt idx="2">
                <c:v>CTR organic</c:v>
              </c:pt>
            </c:strLit>
          </c:cat>
          <c:val>
            <c:numLit>
              <c:formatCode>0.0%</c:formatCode>
              <c:ptCount val="3"/>
              <c:pt idx="0">
                <c:v>0.0042</c:v>
              </c:pt>
              <c:pt idx="1">
                <c:v>0.1561</c:v>
              </c:pt>
              <c:pt idx="2">
                <c:v>-0.2486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42A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0.1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B58CB-1898-42D9-9989-6FA34EED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FB4B5-77C9-4874-AA06-DD100013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Артём Томай · Анализ эксперимента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C753F-54EF-4011-84DD-AAA84299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01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C788C-738A-423E-8AEE-49470619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23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42A43"/>
                </a:solidFill>
              </a:defRPr>
            </a:pPr>
            <a:r>
              <a:rPr sz="5850" b="1">
                <a:solidFill>
                  <a:srgbClr val="142A43"/>
                </a:solidFill>
              </a:rPr>
              <a:t>Дизайн и анализ</a:t>
            </a:r>
          </a:p>
          <a:p xmlns:a="http://schemas.openxmlformats.org/drawingml/2006/main">
            <a:pPr>
              <a:defRPr sz="5850" b="1">
                <a:solidFill>
                  <a:srgbClr val="142A43"/>
                </a:solidFill>
              </a:defRPr>
            </a:pPr>
            <a:r>
              <a:rPr sz="5850" b="1">
                <a:solidFill>
                  <a:srgbClr val="142A43"/>
                </a:solidFill>
              </a:rPr>
              <a:t>A/B-теста Marketpele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97641-C7D9-4FCA-B9E5-4ACB5C8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295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4748B"/>
                </a:solidFill>
              </a:defRPr>
            </a:pPr>
            <a:r>
              <a:rPr sz="2550" b="0">
                <a:solidFill>
                  <a:srgbClr val="64748B"/>
                </a:solidFill>
              </a:rPr>
              <a:t>Как расположение рекламы и органического контента</a:t>
            </a:r>
          </a:p>
          <a:p xmlns:a="http://schemas.openxmlformats.org/drawingml/2006/main">
            <a:pPr>
              <a:defRPr sz="2550" b="0">
                <a:solidFill>
                  <a:srgbClr val="64748B"/>
                </a:solidFill>
              </a:defRPr>
            </a:pPr>
            <a:r>
              <a:rPr sz="2550" b="0">
                <a:solidFill>
                  <a:srgbClr val="64748B"/>
                </a:solidFill>
              </a:rPr>
              <a:t>влияет на взаимодействие и выручку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B17A4-1C0C-4330-AE07-FA4F628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24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5AD1"/>
                </a:solidFill>
              </a:defRPr>
            </a:pPr>
            <a:r>
              <a:rPr sz="2400" b="1">
                <a:solidFill>
                  <a:srgbClr val="235AD1"/>
                </a:solidFill>
              </a:rPr>
              <a:t>Рост рекламных кликов не подтвердил рост выручки</a:t>
            </a:r>
          </a:p>
        </p:txBody>
      </p:sp>
    </p:spTree>
    <p:extLst>
      <p:ext uri="{BB962C8B-B14F-4D97-AF65-F5344CB8AC3E}">
        <p14:creationId xmlns:p14="http://schemas.microsoft.com/office/powerpoint/2010/main" val="1193689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A096D-AEFB-4377-8A1E-1C7116F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0ED65-61C1-4603-AED1-B8B9854B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43"/>
                </a:solidFill>
              </a:defRPr>
            </a:pPr>
            <a:r>
              <a:rPr sz="3600" b="1">
                <a:solidFill>
                  <a:srgbClr val="142A43"/>
                </a:solidFill>
              </a:rPr>
              <a:t>Проверяем влияние интерфейса на выручку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163CF-8E34-406B-9324-296E3465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Артём Томай · Анализ эксперимента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C1D56-ECBF-466F-90BE-13EDA6F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F0E70-7098-484A-BFE1-4EBA0C67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5AD1"/>
                </a:solidFill>
              </a:defRPr>
            </a:pPr>
            <a:r>
              <a:rPr sz="1650" b="1">
                <a:solidFill>
                  <a:srgbClr val="235AD1"/>
                </a:solidFill>
              </a:rPr>
              <a:t>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11DA1-AF6C-4A91-83A3-44006716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A43"/>
                </a:solidFill>
              </a:defRPr>
            </a:pPr>
            <a:r>
              <a:rPr sz="2550" b="0">
                <a:solidFill>
                  <a:srgbClr val="142A43"/>
                </a:solidFill>
              </a:rPr>
              <a:t>В ленте соседствуют платные</a:t>
            </a:r>
          </a:p>
          <a:p xmlns:a="http://schemas.openxmlformats.org/drawingml/2006/main">
            <a:pPr>
              <a:defRPr sz="2550" b="0">
                <a:solidFill>
                  <a:srgbClr val="142A43"/>
                </a:solidFill>
              </a:defRPr>
            </a:pPr>
            <a:r>
              <a:rPr sz="2550" b="0">
                <a:solidFill>
                  <a:srgbClr val="142A43"/>
                </a:solidFill>
              </a:rPr>
              <a:t>объявления и органический</a:t>
            </a:r>
          </a:p>
          <a:p xmlns:a="http://schemas.openxmlformats.org/drawingml/2006/main">
            <a:pPr>
              <a:defRPr sz="2550" b="0">
                <a:solidFill>
                  <a:srgbClr val="142A43"/>
                </a:solidFill>
              </a:defRPr>
            </a:pPr>
            <a:r>
              <a:rPr sz="2550" b="0">
                <a:solidFill>
                  <a:srgbClr val="142A43"/>
                </a:solidFill>
              </a:rPr>
              <a:t>контент издателей.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B44C-CD97-4671-9FBD-F1A61E60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Новое расположение может изменить</a:t>
            </a:r>
          </a:p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то, какие элементы замечают</a:t>
            </a:r>
          </a:p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и выбирают пользователи.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CB844-AD26-4EE8-9DF1-8B96E49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5AD1"/>
                </a:solidFill>
              </a:defRPr>
            </a:pPr>
            <a:r>
              <a:rPr sz="1650" b="1">
                <a:solidFill>
                  <a:srgbClr val="235AD1"/>
                </a:solidFill>
              </a:rPr>
              <a:t>ПРОДУКТОВАЯ ГИПОТЕЗА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F0F9C-1B27-4E26-AB76-09F5D68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43"/>
                </a:solidFill>
              </a:defRPr>
            </a:pPr>
            <a:r>
              <a:rPr sz="2850" b="1">
                <a:solidFill>
                  <a:srgbClr val="142A43"/>
                </a:solidFill>
              </a:rPr>
              <a:t>Больше внимания к рекламе —</a:t>
            </a:r>
          </a:p>
          <a:p xmlns:a="http://schemas.openxmlformats.org/drawingml/2006/main">
            <a:pPr>
              <a:defRPr sz="2850" b="1">
                <a:solidFill>
                  <a:srgbClr val="142A43"/>
                </a:solidFill>
              </a:defRPr>
            </a:pPr>
            <a:r>
              <a:rPr sz="2850" b="1">
                <a:solidFill>
                  <a:srgbClr val="142A43"/>
                </a:solidFill>
              </a:rPr>
              <a:t>больше платных кликов</a:t>
            </a:r>
          </a:p>
          <a:p xmlns:a="http://schemas.openxmlformats.org/drawingml/2006/main">
            <a:pPr>
              <a:defRPr sz="2850" b="1">
                <a:solidFill>
                  <a:srgbClr val="142A43"/>
                </a:solidFill>
              </a:defRPr>
            </a:pPr>
            <a:r>
              <a:rPr sz="2850" b="1">
                <a:solidFill>
                  <a:srgbClr val="142A43"/>
                </a:solidFill>
              </a:rPr>
              <a:t>и выше выручка.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9F970-7EDB-49B9-891C-1348169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Условие внедрения: рост выручки</a:t>
            </a:r>
          </a:p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без неприемлемого ухудшения</a:t>
            </a:r>
          </a:p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органического взаимодействия.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659319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E6903-DCBD-42AC-968E-A7AFB5B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3BFBF-DFBB-4FEF-BAF4-C96D175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43"/>
                </a:solidFill>
              </a:defRPr>
            </a:pPr>
            <a:r>
              <a:rPr sz="3600" b="1">
                <a:solidFill>
                  <a:srgbClr val="142A43"/>
                </a:solidFill>
              </a:rPr>
              <a:t>14 дней: дизайн и ожидаемая чувствительность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EB316-1180-4A62-80FC-5E1B077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Артём Томай · Анализ эксперимента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39B16-D6F9-4E57-86BE-2771D6C2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DE39C-5528-4041-873F-CCA7BFE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35AD1"/>
                </a:solidFill>
              </a:defRPr>
            </a:pPr>
            <a:r>
              <a:rPr sz="3900" b="1">
                <a:solidFill>
                  <a:srgbClr val="235AD1"/>
                </a:solidFill>
              </a:rPr>
              <a:t>14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F495A-1766-41F8-9A70-287680D9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Длительность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99F98-78F5-4F31-8EC1-B548697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35AD1"/>
                </a:solidFill>
              </a:defRPr>
            </a:pPr>
            <a:r>
              <a:rPr sz="3900" b="1">
                <a:solidFill>
                  <a:srgbClr val="235AD1"/>
                </a:solidFill>
              </a:rPr>
              <a:t>50 / 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F8D4E-F969-47A5-8F70-3AEC901E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0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Распределение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ABAF7-D170-44D8-AA55-FF3C3FA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35AD1"/>
                </a:solidFill>
              </a:defRPr>
            </a:pPr>
            <a:r>
              <a:rPr sz="3900" b="1">
                <a:solidFill>
                  <a:srgbClr val="235AD1"/>
                </a:solidFill>
              </a:rPr>
              <a:t>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CB46A-A575-451F-98D3-6E969112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Уровень значимости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80D83-BD82-4BEB-BBCC-6A7C377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383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35AD1"/>
                </a:solidFill>
              </a:defRPr>
            </a:pPr>
            <a:r>
              <a:rPr sz="3900" b="1">
                <a:solidFill>
                  <a:srgbClr val="235AD1"/>
                </a:solidFill>
              </a:rPr>
              <a:t>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3D6D1-67F6-4E66-B317-05BC639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0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Целевая мощность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68792-2E30-4758-923D-1A084AF3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A43"/>
                </a:solidFill>
              </a:defRPr>
            </a:pPr>
            <a:r>
              <a:rPr sz="2700" b="1">
                <a:solidFill>
                  <a:srgbClr val="142A43"/>
                </a:solidFill>
              </a:rPr>
              <a:t>CUPED: MDE около 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16572-A94D-487F-A5D3-F11886E5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Оценка на исторических данных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19125" y="5191125"/>
          <a:ext xmlns:a="http://schemas.openxmlformats.org/drawingml/2006/main" cx="6334125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f60fb6bc834054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6DF00-92A9-4E35-B0B6-2187779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43"/>
                </a:solidFill>
              </a:defRPr>
            </a:pPr>
            <a:r>
              <a:rPr sz="2400" b="1">
                <a:solidFill>
                  <a:srgbClr val="142A43"/>
                </a:solidFill>
              </a:rPr>
              <a:t>Рандомизация по user_id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0B553-134A-4832-A895-B65CE0E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A/A: 5,6% ложных срабатываний</a:t>
            </a:r>
          </a:p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A/B-симуляция: мощность 80,1%</a:t>
            </a:r>
          </a:p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По 1000 случайных разбиений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E46BD-27A4-4628-86C4-8C0D448E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667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5AD1"/>
                </a:solidFill>
              </a:defRPr>
            </a:pPr>
            <a:r>
              <a:rPr sz="1950" b="1">
                <a:solidFill>
                  <a:srgbClr val="235AD1"/>
                </a:solidFill>
              </a:rPr>
              <a:t>В анализе проведённого теста</a:t>
            </a:r>
          </a:p>
          <a:p xmlns:a="http://schemas.openxmlformats.org/drawingml/2006/main">
            <a:pPr>
              <a:defRPr sz="1950" b="1">
                <a:solidFill>
                  <a:srgbClr val="235AD1"/>
                </a:solidFill>
              </a:defRPr>
            </a:pPr>
            <a:r>
              <a:rPr sz="1950" b="1">
                <a:solidFill>
                  <a:srgbClr val="235AD1"/>
                </a:solidFill>
              </a:rPr>
              <a:t>CUPED не применялся.</a:t>
            </a:r>
          </a:p>
        </p:txBody>
      </p:sp>
    </p:spTree>
    <p:extLst>
      <p:ext uri="{BB962C8B-B14F-4D97-AF65-F5344CB8AC3E}">
        <p14:creationId xmlns:p14="http://schemas.microsoft.com/office/powerpoint/2010/main" val="182723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B35D0-BB4D-447D-8169-F15F9FC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E46CF-01FA-4B5C-94C2-FA8049C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43"/>
                </a:solidFill>
              </a:defRPr>
            </a:pPr>
            <a:r>
              <a:rPr sz="3600" b="1">
                <a:solidFill>
                  <a:srgbClr val="142A43"/>
                </a:solidFill>
              </a:rPr>
              <a:t>Три метрики определяют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BF01E-8604-4FB2-8673-5918C6BF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Артём Томай · Анализ эксперимента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EA090-8211-419B-9AF5-DF562504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DCAF3-4C5F-474C-969F-8248824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5AD1"/>
                </a:solidFill>
              </a:defRPr>
            </a:pPr>
            <a:r>
              <a:rPr sz="2550" b="1">
                <a:solidFill>
                  <a:srgbClr val="235AD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41B95-6D47-49F2-83C1-5F028BF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43"/>
                </a:solidFill>
              </a:defRPr>
            </a:pPr>
            <a:r>
              <a:rPr sz="3000" b="1">
                <a:solidFill>
                  <a:srgbClr val="142A43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73CF3-C8EB-431E-ACDD-C6F6405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28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5AD1"/>
                </a:solidFill>
              </a:defRPr>
            </a:pPr>
            <a:r>
              <a:rPr sz="1800" b="0">
                <a:solidFill>
                  <a:srgbClr val="235AD1"/>
                </a:solidFill>
              </a:rPr>
              <a:t>Основная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D4CC7-43FF-43A1-9CBF-EFC622C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Суммарная выручка на пользователя</a:t>
            </a:r>
          </a:p>
          <a:p xmlns:a="http://schemas.openxmlformats.org/drawingml/2006/main">
            <a:pPr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за период эксперимента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861C8-0D4C-4BBE-B6C9-A9F304A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7D70"/>
                </a:solidFill>
              </a:defRPr>
            </a:pPr>
            <a:r>
              <a:rPr sz="2550" b="1">
                <a:solidFill>
                  <a:srgbClr val="157D7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BFC26-9619-4312-AE6E-0E015F1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43"/>
                </a:solidFill>
              </a:defRPr>
            </a:pPr>
            <a:r>
              <a:rPr sz="3000" b="1">
                <a:solidFill>
                  <a:srgbClr val="142A43"/>
                </a:solidFill>
              </a:rPr>
              <a:t>CTR paid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8750A-8327-4D1B-8CAF-12E40EBB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48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7D70"/>
                </a:solidFill>
              </a:defRPr>
            </a:pPr>
            <a:r>
              <a:rPr sz="1800" b="0">
                <a:solidFill>
                  <a:srgbClr val="157D70"/>
                </a:solidFill>
              </a:rPr>
              <a:t>Прокси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67096-21FE-4A0C-A54E-C62834B7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Клики по платным элементам</a:t>
            </a:r>
          </a:p>
          <a:p xmlns:a="http://schemas.openxmlformats.org/drawingml/2006/main">
            <a:pPr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на просмотр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1DF6E-5AC6-47E9-813A-E6771CB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D454C"/>
                </a:solidFill>
              </a:defRPr>
            </a:pPr>
            <a:r>
              <a:rPr sz="2550" b="1">
                <a:solidFill>
                  <a:srgbClr val="BD454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09B18-9D6A-4498-B0A1-D2C4306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A43"/>
                </a:solidFill>
              </a:defRPr>
            </a:pPr>
            <a:r>
              <a:rPr sz="3000" b="1">
                <a:solidFill>
                  <a:srgbClr val="142A43"/>
                </a:solidFill>
              </a:rPr>
              <a:t>CTR organic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FD4EC-5099-44FC-80B1-764E21BF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674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D454C"/>
                </a:solidFill>
              </a:defRPr>
            </a:pPr>
            <a:r>
              <a:rPr sz="1800" b="0">
                <a:solidFill>
                  <a:srgbClr val="BD454C"/>
                </a:solidFill>
              </a:rPr>
              <a:t>Защитная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7DA5E-8FE7-4C04-B31B-9D95B12A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Клики по органическим элементам</a:t>
            </a:r>
          </a:p>
          <a:p xmlns:a="http://schemas.openxmlformats.org/drawingml/2006/main">
            <a:pPr>
              <a:defRPr sz="2250" b="0">
                <a:solidFill>
                  <a:srgbClr val="64748B"/>
                </a:solidFill>
              </a:defRPr>
            </a:pPr>
            <a:r>
              <a:rPr sz="2250" b="0">
                <a:solidFill>
                  <a:srgbClr val="64748B"/>
                </a:solidFill>
              </a:rPr>
              <a:t>на просмотр страницы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59F2D-26E6-4C63-9317-F96C9BE1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CTR здесь — клики на страницу, а не доля кликов от показов объявления.</a:t>
            </a:r>
          </a:p>
        </p:txBody>
      </p:sp>
    </p:spTree>
    <p:extLst>
      <p:ext uri="{BB962C8B-B14F-4D97-AF65-F5344CB8AC3E}">
        <p14:creationId xmlns:p14="http://schemas.microsoft.com/office/powerpoint/2010/main" val="845435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7EBA7-ACD7-4125-B951-AB561B8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2A026-5468-4129-925B-AAC7C12B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43"/>
                </a:solidFill>
              </a:defRPr>
            </a:pPr>
            <a:r>
              <a:rPr sz="3600" b="1">
                <a:solidFill>
                  <a:srgbClr val="142A43"/>
                </a:solidFill>
              </a:rPr>
              <a:t>Paid CTR вырос; рост выручки не подтверждён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37C02-1868-4C31-8AAF-B56619D0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Артём Томай · Анализ эксперимента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CCCD6-685D-4BB0-8D0E-A48DB6A0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5C2EC-871A-460B-9EE3-7AC0C744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Относительное изменение к контролю, %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19125" y="3000375"/>
          <a:ext xmlns:a="http://schemas.openxmlformats.org/drawingml/2006/main" cx="8096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05277a5177489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B970D-68EC-4ACB-9B06-9DC8EFA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A43"/>
                </a:solidFill>
              </a:defRPr>
            </a:pPr>
            <a:r>
              <a:rPr sz="2400" b="1">
                <a:solidFill>
                  <a:srgbClr val="142A43"/>
                </a:solidFill>
              </a:rPr>
              <a:t>Revenue  +0,42%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552A0-ED88-4D88-A928-D43F9597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173,551 → 174,274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E983E-3C84-4DCC-984B-5E8C72D0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956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A43"/>
                </a:solidFill>
              </a:defRPr>
            </a:pPr>
            <a:r>
              <a:rPr sz="1725" b="0">
                <a:solidFill>
                  <a:srgbClr val="142A43"/>
                </a:solidFill>
              </a:rPr>
              <a:t>p = 0,460 · рост не подтверждён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4E492-C8F4-4598-AE72-79F273A9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7D70"/>
                </a:solidFill>
              </a:defRPr>
            </a:pPr>
            <a:r>
              <a:rPr sz="2400" b="1">
                <a:solidFill>
                  <a:srgbClr val="157D70"/>
                </a:solidFill>
              </a:rPr>
              <a:t>CTR paid  +15,61%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0C32A-280A-4081-9A01-C92C708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0,237 → 0,274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454C9-7E56-48DE-98F6-E6C9EB8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149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7D70"/>
                </a:solidFill>
              </a:defRPr>
            </a:pPr>
            <a:r>
              <a:rPr sz="1725" b="0">
                <a:solidFill>
                  <a:srgbClr val="157D70"/>
                </a:solidFill>
              </a:rPr>
              <a:t>p &lt; 0,001 · значимый рост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8DE46-4C7B-43A4-9BC8-23A7D32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D454C"/>
                </a:solidFill>
              </a:defRPr>
            </a:pPr>
            <a:r>
              <a:rPr sz="2400" b="1">
                <a:solidFill>
                  <a:srgbClr val="BD454C"/>
                </a:solidFill>
              </a:rPr>
              <a:t>CTR organic  −24,86%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398D7-577E-4721-9FD9-83EE277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674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48B"/>
                </a:solidFill>
              </a:defRPr>
            </a:pPr>
            <a:r>
              <a:rPr sz="2100" b="0">
                <a:solidFill>
                  <a:srgbClr val="64748B"/>
                </a:solidFill>
              </a:rPr>
              <a:t>0,346 → 0,260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14A81-6B56-4BDC-B886-1EA4940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734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D454C"/>
                </a:solidFill>
              </a:defRPr>
            </a:pPr>
            <a:r>
              <a:rPr sz="1725" b="0">
                <a:solidFill>
                  <a:srgbClr val="BD454C"/>
                </a:solidFill>
              </a:rPr>
              <a:t>p &lt; 0,001 · значимое снижение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5118F-D294-4859-A43E-12C2E06D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8075"/>
            <a:ext cx="1371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Контроль: 998 пользователей · Тест: 985 · Односторонние t-тесты, α = 5%</a:t>
            </a:r>
          </a:p>
        </p:txBody>
      </p:sp>
    </p:spTree>
    <p:extLst>
      <p:ext uri="{BB962C8B-B14F-4D97-AF65-F5344CB8AC3E}">
        <p14:creationId xmlns:p14="http://schemas.microsoft.com/office/powerpoint/2010/main" val="45849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1DEEC-695D-49FD-B718-7E40ED0E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B3D0"/>
                </a:solidFill>
              </a:defRPr>
            </a:pPr>
            <a:r>
              <a:rPr sz="1500" b="1">
                <a:solidFill>
                  <a:srgbClr val="9BB3D0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A5E4B-4FA1-40C7-A075-A97A9111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Результаты согласуются с перераспределением внимания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19886-C6B4-4448-9B15-CC775F2B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BB3D0"/>
                </a:solidFill>
              </a:defRPr>
            </a:pPr>
            <a:r>
              <a:rPr sz="1350" b="0">
                <a:solidFill>
                  <a:srgbClr val="9BB3D0"/>
                </a:solidFill>
              </a:rPr>
              <a:t>Артём Томай · Анализ эксперимента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D13A2-15E3-43AA-9F09-EEDF397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BB3D0"/>
                </a:solidFill>
              </a:defRPr>
            </a:pPr>
            <a:r>
              <a:rPr sz="1350" b="0">
                <a:solidFill>
                  <a:srgbClr val="9BB3D0"/>
                </a:solidFill>
              </a:rPr>
              <a:t>06 / 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d2b1623c847a5"/>
          <a:stretch xmlns:a="http://schemas.openxmlformats.org/drawingml/2006/main"/>
        </p:blipFill>
        <p:spPr>
          <a:xfrm xmlns:a="http://schemas.openxmlformats.org/drawingml/2006/main">
            <a:off x="762000" y="2576261"/>
            <a:ext cx="13716000" cy="422960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B4ED0-D3DF-418E-8CB0-2A24E99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Выручка: близкие распределения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9FC7C-3E1D-4848-945F-FC21D90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95325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CEC4"/>
                </a:solidFill>
              </a:defRPr>
            </a:pPr>
            <a:r>
              <a:rPr sz="2025" b="1">
                <a:solidFill>
                  <a:srgbClr val="9ACEC4"/>
                </a:solidFill>
              </a:rPr>
              <a:t>Платное взаимодействие ↑   Органическое ↓</a:t>
            </a:r>
          </a:p>
        </p:txBody>
      </p:sp>
    </p:spTree>
    <p:extLst>
      <p:ext uri="{BB962C8B-B14F-4D97-AF65-F5344CB8AC3E}">
        <p14:creationId xmlns:p14="http://schemas.microsoft.com/office/powerpoint/2010/main" val="1151367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8DBE6-F5D4-4CF7-A4D6-EEFB1103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MARKETPELE  /  A/B-ТЕСТ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CA27F-73E6-48A6-85D9-028FC45B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43"/>
                </a:solidFill>
              </a:defRPr>
            </a:pPr>
            <a:r>
              <a:rPr sz="3600" b="1">
                <a:solidFill>
                  <a:srgbClr val="142A43"/>
                </a:solidFill>
              </a:rPr>
              <a:t>Рекомендация: доработать и протестировать снова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B5877-883D-45E0-B06C-29CED66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Артём Томай · Анализ эксперимента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681AB-3347-4E18-B675-DF2CB198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03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07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BBA64-8F01-4F12-8345-955CC535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304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A43"/>
                </a:solidFill>
              </a:defRPr>
            </a:pPr>
            <a:r>
              <a:rPr sz="4200" b="1">
                <a:solidFill>
                  <a:srgbClr val="142A43"/>
                </a:solidFill>
              </a:rPr>
              <a:t>Не внедрять текущий вариант</a:t>
            </a:r>
          </a:p>
          <a:p xmlns:a="http://schemas.openxmlformats.org/drawingml/2006/main">
            <a:pPr>
              <a:defRPr sz="4200" b="1">
                <a:solidFill>
                  <a:srgbClr val="142A43"/>
                </a:solidFill>
              </a:defRPr>
            </a:pPr>
            <a:r>
              <a:rPr sz="4200" b="1">
                <a:solidFill>
                  <a:srgbClr val="142A43"/>
                </a:solidFill>
              </a:rPr>
              <a:t>на всех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F316-DCDD-4424-A2BA-787502AB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04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4748B"/>
                </a:solidFill>
              </a:defRPr>
            </a:pPr>
            <a:r>
              <a:rPr sz="2400" b="0">
                <a:solidFill>
                  <a:srgbClr val="64748B"/>
                </a:solidFill>
              </a:rPr>
              <a:t>Рост основной метрики не подтверждён,</a:t>
            </a:r>
          </a:p>
          <a:p xmlns:a="http://schemas.openxmlformats.org/drawingml/2006/main">
            <a:pPr>
              <a:defRPr sz="2400" b="0">
                <a:solidFill>
                  <a:srgbClr val="64748B"/>
                </a:solidFill>
              </a:defRPr>
            </a:pPr>
            <a:r>
              <a:rPr sz="2400" b="0">
                <a:solidFill>
                  <a:srgbClr val="64748B"/>
                </a:solidFill>
              </a:rPr>
              <a:t>органическое взаимодействие ухудшилось.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5840E-A259-49D7-A30C-93FBC2E3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5AD1"/>
                </a:solidFill>
              </a:defRPr>
            </a:pPr>
            <a:r>
              <a:rPr sz="1950" b="1">
                <a:solidFill>
                  <a:srgbClr val="235AD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758C1-C0D1-455A-B3B4-86F8DA6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</a:defRPr>
            </a:pPr>
            <a:r>
              <a:rPr sz="2250" b="1">
                <a:solidFill>
                  <a:srgbClr val="142A43"/>
                </a:solidFill>
              </a:rPr>
              <a:t>Исследовать путь</a:t>
            </a:r>
          </a:p>
          <a:p xmlns:a="http://schemas.openxmlformats.org/drawingml/2006/main">
            <a:pPr>
              <a:defRPr sz="2250" b="1">
                <a:solidFill>
                  <a:srgbClr val="142A43"/>
                </a:solidFill>
              </a:defRPr>
            </a:pPr>
            <a:r>
              <a:rPr sz="2250" b="1">
                <a:solidFill>
                  <a:srgbClr val="142A43"/>
                </a:solidFill>
              </a:rPr>
              <a:t>после paid-клика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23367-9B8D-42D6-BE2D-D293AA0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Выяснить, почему больше кликов</a:t>
            </a:r>
          </a:p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не даёт доказанного роста дохода.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11583-93E0-4423-9A74-8CE96B8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6673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5AD1"/>
                </a:solidFill>
              </a:defRPr>
            </a:pPr>
            <a:r>
              <a:rPr sz="1950" b="1">
                <a:solidFill>
                  <a:srgbClr val="235AD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B6E87-E881-4079-9719-D6A21551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19125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</a:defRPr>
            </a:pPr>
            <a:r>
              <a:rPr sz="2250" b="1">
                <a:solidFill>
                  <a:srgbClr val="142A43"/>
                </a:solidFill>
              </a:rPr>
              <a:t>Доработать</a:t>
            </a:r>
          </a:p>
          <a:p xmlns:a="http://schemas.openxmlformats.org/drawingml/2006/main">
            <a:pPr>
              <a:defRPr sz="2250" b="1">
                <a:solidFill>
                  <a:srgbClr val="142A43"/>
                </a:solidFill>
              </a:defRPr>
            </a:pPr>
            <a:r>
              <a:rPr sz="2250" b="1">
                <a:solidFill>
                  <a:srgbClr val="142A43"/>
                </a:solidFill>
              </a:rPr>
              <a:t>расположение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8F05C-368B-41C5-B7BF-5F810AB6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1437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Проверить другие макеты</a:t>
            </a:r>
          </a:p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платного и органического контента.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11C06-4BF2-420F-8986-65BC19E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673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5AD1"/>
                </a:solidFill>
              </a:defRPr>
            </a:pPr>
            <a:r>
              <a:rPr sz="1950" b="1">
                <a:solidFill>
                  <a:srgbClr val="235AD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2D1FB-1D54-4DDE-9E58-252C5E4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9125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3"/>
                </a:solidFill>
              </a:defRPr>
            </a:pPr>
            <a:r>
              <a:rPr sz="2250" b="1">
                <a:solidFill>
                  <a:srgbClr val="142A43"/>
                </a:solidFill>
              </a:rPr>
              <a:t>Повторить</a:t>
            </a:r>
          </a:p>
          <a:p xmlns:a="http://schemas.openxmlformats.org/drawingml/2006/main">
            <a:pPr>
              <a:defRPr sz="2250" b="1">
                <a:solidFill>
                  <a:srgbClr val="142A43"/>
                </a:solidFill>
              </a:defRPr>
            </a:pPr>
            <a:r>
              <a:rPr sz="2250" b="1">
                <a:solidFill>
                  <a:srgbClr val="142A43"/>
                </a:solidFill>
              </a:rPr>
              <a:t>эксперимент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9F730-8EAF-449B-92A6-90330B6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437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Заранее зафиксировать метрики</a:t>
            </a:r>
          </a:p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и допустимый ущерб органике.</a:t>
            </a:r>
          </a:p>
        </p:txBody>
      </p:sp>
    </p:spTree>
    <p:extLst>
      <p:ext uri="{BB962C8B-B14F-4D97-AF65-F5344CB8AC3E}">
        <p14:creationId xmlns:p14="http://schemas.microsoft.com/office/powerpoint/2010/main" val="2135782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2026-09-08T06:31:10.7460000Z</dcterms:created>
  <dcterms:modified xsi:type="dcterms:W3CDTF">2026-09-08T06:31:10.7460000Z</dcterms:modified>
</coreProperties>
</file>